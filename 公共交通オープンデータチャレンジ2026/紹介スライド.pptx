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Move or Wait、動くか待つか。地震のあと、鉄道会社が「再開の見込みは立っていません」としか言えない数時間に、訪日外国人へ、待つか、今夜の寝場所を確保するかを決める数字を出すウェブアプリです。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きな地震のあと、鉄道会社の案内は全社同じ文になります。「運転再開の見込みは立っていません」。点検の内容で復旧時間が大きく変わるので、数字が出せないのです。8月23日の茨城県南部の地震では、深夜2時の発生から、6時15分になっても再開見込みが出ませんでした。4時間以上、誰も「あとどれくらい」を言ってい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一番困るのが訪日外国人です。日本語の案内が読めず、「点検」が何時間か知らず、駅周辺のホテルが数時間で埋まることも知りません。1時間目に決めるか、4時間目に決めるかで、結果が変わります。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アプリは、「見込みは立っていません」に数字を与えます。再開まで51分から4時間26分、12時24分から15時59分ごろ。そして「今夜のうちに戻れる見込みです」という決断の形にします。終電と出国便の時刻から逆算しています。この数字を出しているところは、他にあ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宿の行をタップすると、周りの路線が1行ずつ並びます。路線を開くと、最も強く揺れた観測点、点検が要る区間の長さ、再開までの幅、鉄道会社の案内が見えます。見込みを出すからこそ、根拠と限界を隠し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震度6強なら、待たずに宿を取れと言います。見込み時刻は出しません。そして休める場所として、東京都の一時滞在施設と、国土地理院の指定緊急避難場所を同じ地図に出します。現在地は住所で表示します。画面を見せれば、言葉なしで伝わ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仕組みです。気象庁の震度を、国土数値情報の全国596路線に重ねます。公共交通オープンデータセンターの路線と駅のデータで、線路名称を旅客が知る運転系統に組み替えます。高浜・翠川の推定式で、路線ごとの再開までの幅を出します。運行情報で「平常」が出た系統は、推定を取り下げます。最後に、決断の形に翻訳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字の根拠です。再開までの時間は、高浜・翠川による「地震時の鉄道運休時間の推定方法」、日本地震工学会論文集2011年の推定式から出しています。震度4なら注意運転点検で30分。震度5弱以上なら徒歩点検で、1キロあたり6分、プラスマイナス30分。震度6弱以上は被害が出る領域なので、時間を出しません。点検区間の長さは、震度5弱以上が当たった区間だけを数え、その誤差と式のばらつきを重ねたものが、画面の幅です。鉄道会社は気象庁の震度ではなく自前の地震計で判断するので、この数字はあくまで推定です。だから幅で出し、断定せず、運行情報で確定させ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公共交通オープンデータセンターのデータは、2つの役割で使っています。路線と駅のデータで運転系統の対応表を作ること。運行情報で推定を終わらせること。「止まっている」は他でも見られますが、「あとどれくらい」と「もう再開した」の両端を持つのはここだけ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8月23日の茨城県南部の地震を、実データで再現しました。山手線は1時間44分から5時間35分。実際にJR東日本は、発生4時間15分後でも再開見込みを出していませんでした。推定の幅と整合しています。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宿と出国便は地震の前に設定します。設定はURLに入るので、宿や旅行会社が客に設定つきリンクを配れます。4言語に対応し、圏外でも最後の判定を表示します。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術面では、依存ゼロ、ビルドなし、サーバなしの静的サイトです。地震直後の輻輳でも落ちにくい作りです。596路線への震度の割り当てはブラウザ内で162ミリ秒。14通りのシナリオで確認済みで、審査中もいつでも判定が見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限界も正直に書きます。推定は推定であり、一時滞在施設は東京都のみ、避難場所がいま開いているかは取れません。その上で、外すなら安全側に外れるように作ってあります。速報段階では判定せず、推定の期限が切れたらそう言い、事業者が平常と言えば推定を捨てる。運行情報の文面は現在形の事実だけを読み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「あとどれくらい」を出しているのは、ここだけです。待つか、今夜の寝場所を確保するかを、いま決められる。Move or Wait、動くか待つか。ありがとうございました。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4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>
                <a:solidFill>
                  <a:srgbClr val="FFFFFF"/>
                </a:solidFill>
                <a:latin typeface="Yu Gothic UI"/>
              </a:rPr>
              <a:t>Move or Wait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2316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Yu Gothic UI"/>
              </a:rPr>
              <a:t>動くか、待つか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FFFFF"/>
                </a:solidFill>
                <a:latin typeface="Yu Gothic UI"/>
              </a:rPr>
              <a:t>地震のあと、「運転再開の見込みは立っていません」に数字を与える。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2400" b="0">
                <a:solidFill>
                  <a:srgbClr val="FFFFFF"/>
                </a:solidFill>
                <a:latin typeface="Yu Gothic UI"/>
              </a:rPr>
              <a:t>訪日外国人が、待つか、今夜の寝場所を確保するかを、いま決められるように。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76072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Yu Gothic UI"/>
              </a:rPr>
              <a:t>公共交通オープンデータチャレンジ2026 応募作品  ·  tyra0119.github.io/pj_DisasterPrevention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Move or Wait — 動くか、待つか  ·  公共交通オープンデータチャレンジ2026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4231C"/>
                </a:solidFill>
                <a:latin typeface="Yu Gothic UI"/>
              </a:rPr>
              <a:t>課題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14181D"/>
                </a:solidFill>
                <a:latin typeface="Yu Gothic UI"/>
              </a:rPr>
              <a:t>「運転再開の見込みは立っていません」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6583680" cy="13716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621792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4181D"/>
                </a:solidFill>
                <a:latin typeface="Yu Gothic UI"/>
              </a:rPr>
              <a:t>現在、安全確認のため運転を見合わせています。</a:t>
            </a:r>
          </a:p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181D"/>
                </a:solidFill>
                <a:latin typeface="Yu Gothic UI"/>
              </a:rPr>
              <a:t>運転再開の見込みは立っていません。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5C6670"/>
                </a:solidFill>
                <a:latin typeface="Yu Gothic UI"/>
              </a:rPr>
              <a:t>— 地震のあと、どの鉄道会社も同じ文になる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6583680" cy="2377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4181D"/>
                </a:solidFill>
                <a:latin typeface="Yu Gothic UI"/>
              </a:rPr>
              <a:t>方針ではない。点検内容で復旧時間が大きく変わり、数字が出せない。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600" b="1">
                <a:solidFill>
                  <a:srgbClr val="14181D"/>
                </a:solidFill>
                <a:latin typeface="Yu Gothic UI"/>
              </a:rPr>
              <a:t>2026-08-23 茨城県南部 M5.9 最大震度 5 弱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14181D"/>
                </a:solidFill>
                <a:latin typeface="Yu Gothic UI"/>
              </a:rPr>
              <a:t>02:00 発生 → 05:00 始発から関東の在来線が運転見合わせ</a:t>
            </a:r>
          </a:p>
          <a:p>
            <a:pPr algn="l">
              <a:lnSpc>
                <a:spcPct val="115000"/>
              </a:lnSpc>
            </a:pPr>
            <a:r>
              <a:rPr sz="1600" b="1">
                <a:solidFill>
                  <a:srgbClr val="A4231C"/>
                </a:solidFill>
                <a:latin typeface="Yu Gothic UI"/>
              </a:rPr>
              <a:t>→ 06:15 になっても再開見込みなし。4 時間以上、誰も「あとどれくらい」を言わない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194560"/>
            <a:ext cx="3291840" cy="356616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10058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4181D"/>
                </a:solidFill>
                <a:latin typeface="Yu Gothic UI"/>
              </a:rPr>
              <a:t>02:00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450592"/>
            <a:ext cx="19202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地震発生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246120"/>
            <a:ext cx="10058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9A5B06"/>
                </a:solidFill>
                <a:latin typeface="Yu Gothic UI"/>
              </a:rPr>
              <a:t>05:00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3319272"/>
            <a:ext cx="19202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A5B06"/>
                </a:solidFill>
                <a:latin typeface="Yu Gothic UI"/>
              </a:rPr>
              <a:t>始発から見合わせ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4114800"/>
            <a:ext cx="10058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A4231C"/>
                </a:solidFill>
                <a:latin typeface="Yu Gothic UI"/>
              </a:rPr>
              <a:t>06:15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4187952"/>
            <a:ext cx="19202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A4231C"/>
                </a:solidFill>
                <a:latin typeface="Yu Gothic UI"/>
              </a:rPr>
              <a:t>再開見込みなし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983479"/>
            <a:ext cx="10058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A4231C"/>
                </a:solidFill>
                <a:latin typeface="Yu Gothic UI"/>
              </a:rP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5056631"/>
            <a:ext cx="19202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A4231C"/>
                </a:solidFill>
                <a:latin typeface="Yu Gothic UI"/>
              </a:rPr>
              <a:t>あとどれくらい？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Move or Wait — 動くか、待つか  ·  公共交通オープンデータチャレンジ2026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4231C"/>
                </a:solidFill>
                <a:latin typeface="Yu Gothic UI"/>
              </a:rPr>
              <a:t>誰が一番困るか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14181D"/>
                </a:solidFill>
                <a:latin typeface="Yu Gothic UI"/>
              </a:rPr>
              <a:t>一番判断材料がないのは、訪日外国人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6766560" cy="86868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94560"/>
            <a:ext cx="64008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4181D"/>
                </a:solidFill>
                <a:latin typeface="Yu Gothic UI"/>
              </a:rPr>
              <a:t>日本語のアナウンスが読めない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C6670"/>
                </a:solidFill>
                <a:latin typeface="Yu Gothic UI"/>
              </a:rPr>
              <a:t>駅の電光掲示も、車内放送も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54679"/>
            <a:ext cx="6766560" cy="86868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246119"/>
            <a:ext cx="64008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4181D"/>
                </a:solidFill>
                <a:latin typeface="Yu Gothic UI"/>
              </a:rPr>
              <a:t>「点検」が何時間を意味するか知らない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C6670"/>
                </a:solidFill>
                <a:latin typeface="Yu Gothic UI"/>
              </a:rPr>
              <a:t>30 分なのか、明日なのか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206240"/>
            <a:ext cx="6766560" cy="86868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297680"/>
            <a:ext cx="64008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4181D"/>
                </a:solidFill>
                <a:latin typeface="Yu Gothic UI"/>
              </a:rPr>
              <a:t>ホテルが数時間で埋まることを知らない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C6670"/>
                </a:solidFill>
                <a:latin typeface="Yu Gothic UI"/>
              </a:rPr>
              <a:t>駅周辺は地震のあとすぐ満室になる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103120"/>
            <a:ext cx="3383280" cy="3063240"/>
          </a:xfrm>
          <a:prstGeom prst="roundRect">
            <a:avLst>
              <a:gd name="adj" fmla="val 6000"/>
            </a:avLst>
          </a:prstGeom>
          <a:solidFill>
            <a:srgbClr val="A4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2286000"/>
            <a:ext cx="3017520" cy="2743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FFFFF"/>
                </a:solidFill>
                <a:latin typeface="Yu Gothic UI"/>
              </a:rPr>
              <a:t>1 時間目に決めるか</a:t>
            </a:r>
          </a:p>
          <a:p>
            <a:pPr algn="l">
              <a:lnSpc>
                <a:spcPct val="115000"/>
              </a:lnSpc>
            </a:pPr>
            <a:r>
              <a:rPr sz="2400" b="1">
                <a:solidFill>
                  <a:srgbClr val="FFFFFF"/>
                </a:solidFill>
                <a:latin typeface="Yu Gothic UI"/>
              </a:rPr>
              <a:t>4 時間目に決めるかで</a:t>
            </a:r>
          </a:p>
          <a:p>
            <a:pPr algn="l">
              <a:lnSpc>
                <a:spcPct val="115000"/>
              </a:lnSpc>
            </a:pPr>
            <a:r>
              <a:rPr sz="2400" b="1">
                <a:solidFill>
                  <a:srgbClr val="FFFFFF"/>
                </a:solidFill>
                <a:latin typeface="Yu Gothic UI"/>
              </a:rPr>
              <a:t>結果が変わる。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400" b="0">
                <a:solidFill>
                  <a:srgbClr val="FFFFFF"/>
                </a:solidFill>
                <a:latin typeface="Yu Gothic UI"/>
              </a:rPr>
              <a:t>今夜の宿は取ってある。飛行機は明日。待てばいいのか、動くべきなのか。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Move or Wait — 動くか、待つか  ·  公共交通オープンデータチャレンジ2026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4231C"/>
                </a:solidFill>
                <a:latin typeface="Yu Gothic UI"/>
              </a:rPr>
              <a:t>解決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73152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14181D"/>
                </a:solidFill>
                <a:latin typeface="Yu Gothic UI"/>
              </a:rPr>
              <a:t>「あとどれくらい」に数字を与える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6949440" cy="4206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181D"/>
                </a:solidFill>
                <a:latin typeface="Yu Gothic UI"/>
              </a:rPr>
              <a:t>待つか、今夜の寝場所を確保するかを、いま決められるようにする。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800" b="1">
                <a:solidFill>
                  <a:srgbClr val="A4231C"/>
                </a:solidFill>
                <a:latin typeface="Yu Gothic UI"/>
              </a:rPr>
              <a:t>再開までの幅と時刻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「51 分〜4 時間 26 分 · 12:24〜15:59 ごろ」。路線ごとに出す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800" b="1">
                <a:solidFill>
                  <a:srgbClr val="A4231C"/>
                </a:solidFill>
                <a:latin typeface="Yu Gothic UI"/>
              </a:rPr>
              <a:t>決断の形で出す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震度でも分数でもなく「今夜のうちに戻れる見込み」。終電と便の出発時刻から逆算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800" b="1">
                <a:solidFill>
                  <a:srgbClr val="A4231C"/>
                </a:solidFill>
                <a:latin typeface="Yu Gothic UI"/>
              </a:rPr>
              <a:t>いまいる場所・宿・出国便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事前に登録した場所ごとに、平常 / 遅れ / 停止 / 不通の印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600" b="1">
                <a:solidFill>
                  <a:srgbClr val="14181D"/>
                </a:solidFill>
                <a:latin typeface="Yu Gothic UI"/>
              </a:rPr>
              <a:t>この数字を出しているところは、他にない。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22208" y="338328"/>
            <a:ext cx="2935007" cy="6181344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verdict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411480"/>
            <a:ext cx="2788703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Move or Wait — 動くか、待つか  ·  公共交通オープンデータチャレンジ2026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4231C"/>
                </a:solidFill>
                <a:latin typeface="Yu Gothic UI"/>
              </a:rPr>
              <a:t>根拠を開ける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73152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14181D"/>
                </a:solidFill>
                <a:latin typeface="Yu Gothic UI"/>
              </a:rPr>
              <a:t>路線ごとに、なぜその幅なのかを見せる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6949440" cy="4206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4181D"/>
                </a:solidFill>
                <a:latin typeface="Yu Gothic UI"/>
              </a:rPr>
              <a:t>宿の行をタップすると、その周りの路線が 1 行ずつ。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700" b="0">
                <a:solidFill>
                  <a:srgbClr val="14181D"/>
                </a:solidFill>
                <a:latin typeface="Yu Gothic UI"/>
              </a:rPr>
              <a:t>路線の「+」で内訳が開く。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14181D"/>
                </a:solidFill>
                <a:latin typeface="Yu Gothic UI"/>
              </a:rPr>
              <a:t>・線路上で最も強く揺れた観測点と震度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・点検が要る区間の長さ (km)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・再開までの幅と時刻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・対応する線路 (国土数値情報の線路名称)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・鉄道会社の案内 (ODPT 運行情報) と、その時点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5C6670"/>
                </a:solidFill>
                <a:latin typeface="Yu Gothic UI"/>
              </a:rPr>
              <a:t>「鉄道会社の判断ではなく推定である」ことを毎回書く。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5C6670"/>
                </a:solidFill>
                <a:latin typeface="Yu Gothic UI"/>
              </a:rPr>
              <a:t>見込みを出すからこそ、根拠と限界を隠さない。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22208" y="338328"/>
            <a:ext cx="2935007" cy="6181344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2_lines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411480"/>
            <a:ext cx="2788703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Move or Wait — 動くか、待つか  ·  公共交通オープンデータチャレンジ2026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4231C"/>
                </a:solidFill>
                <a:latin typeface="Yu Gothic UI"/>
              </a:rPr>
              <a:t>待たない判断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51206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4181D"/>
                </a:solidFill>
                <a:latin typeface="Yu Gothic UI"/>
              </a:rPr>
              <a:t>震度 6 強なら、待たずに宿を取れ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4937760" cy="4206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5A1016"/>
                </a:solidFill>
                <a:latin typeface="Yu Gothic UI"/>
              </a:rPr>
              <a:t>「鉄道は使えない見込み」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見込み時刻は出さない。出せないものを出さない。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500" b="0">
                <a:solidFill>
                  <a:srgbClr val="14181D"/>
                </a:solidFill>
                <a:latin typeface="Yu Gothic UI"/>
              </a:rPr>
              <a:t>「宿を取るなら早い方がいい。地震のあと、駅の近くはすぐ埋まります」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800" b="1">
                <a:solidFill>
                  <a:srgbClr val="0B6B3A"/>
                </a:solidFill>
                <a:latin typeface="Yu Gothic UI"/>
              </a:rPr>
              <a:t>帰れないときに休める場所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一時滞在施設 (東京都・帰宅困難者向け) を青、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指定緊急避難場所 (国土地理院) を緑で、同じ地図に。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500" b="0">
                <a:solidFill>
                  <a:srgbClr val="5C6670"/>
                </a:solidFill>
                <a:latin typeface="Yu Gothic UI"/>
              </a:rPr>
              <a:t>「休む場所」と「逃げる場所」は用途が違う。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500" b="0">
                <a:solidFill>
                  <a:srgbClr val="5C6670"/>
                </a:solidFill>
                <a:latin typeface="Yu Gothic UI"/>
              </a:rPr>
              <a:t>現在地は住所で出す。駅員やタクシーに画面を見せれば伝わる。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70448" y="338328"/>
            <a:ext cx="2935007" cy="6181344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3_avoid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11480"/>
            <a:ext cx="2788703" cy="60350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979191" y="338328"/>
            <a:ext cx="2935007" cy="6181344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4_shelter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343" y="411480"/>
            <a:ext cx="2788703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Move or Wait — 動くか、待つか  ·  公共交通オープンデータチャレンジ2026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4231C"/>
                </a:solidFill>
                <a:latin typeface="Yu Gothic UI"/>
              </a:rPr>
              <a:t>仕組み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14181D"/>
                </a:solidFill>
                <a:latin typeface="Yu Gothic UI"/>
              </a:rPr>
              <a:t>震度 → 路線 → 運転系統 → 待ち時間 → 決断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502920" cy="502920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Yu Gothic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920240"/>
            <a:ext cx="292608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4181D"/>
                </a:solidFill>
                <a:latin typeface="Yu Gothic UI"/>
              </a:rPr>
              <a:t>気象庁の震度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920240"/>
            <a:ext cx="731520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81D"/>
                </a:solidFill>
                <a:latin typeface="Yu Gothic UI"/>
              </a:rPr>
              <a:t>観測点 4,360 点。P2P地震情報と気象庁 bosai JSON から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79191"/>
            <a:ext cx="502920" cy="502920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679191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Yu Gothic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633471"/>
            <a:ext cx="292608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4181D"/>
                </a:solidFill>
                <a:latin typeface="Yu Gothic UI"/>
              </a:rPr>
              <a:t>路線に重ねる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633471"/>
            <a:ext cx="731520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81D"/>
                </a:solidFill>
                <a:latin typeface="Yu Gothic UI"/>
              </a:rPr>
              <a:t>国土数値情報 N02 の 596 路線・27,343 標本点に最大震度を割り当て。162 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392424"/>
            <a:ext cx="502920" cy="502920"/>
          </a:xfrm>
          <a:prstGeom prst="roundRect">
            <a:avLst>
              <a:gd name="adj" fmla="val 6000"/>
            </a:avLst>
          </a:prstGeom>
          <a:solidFill>
            <a:srgbClr val="A4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92424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Yu Gothic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346704"/>
            <a:ext cx="292608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A4231C"/>
                </a:solidFill>
                <a:latin typeface="Yu Gothic UI"/>
              </a:rPr>
              <a:t>運転系統に組み替え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46704"/>
            <a:ext cx="731520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4231C"/>
                </a:solidFill>
                <a:latin typeface="Yu Gothic UI"/>
              </a:rPr>
              <a:t>ODPT odpt:Railway / odpt:Station。「山手線」を旅客が知る一周に。190 系統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105656"/>
            <a:ext cx="502920" cy="502920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105656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Yu Gothic U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059936"/>
            <a:ext cx="292608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4181D"/>
                </a:solidFill>
                <a:latin typeface="Yu Gothic UI"/>
              </a:rPr>
              <a:t>推定式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4059936"/>
            <a:ext cx="731520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81D"/>
                </a:solidFill>
                <a:latin typeface="Yu Gothic UI"/>
              </a:rPr>
              <a:t>高浜・翠川 (2011) 日本地震工学会論文集。震度 4 → 注意運転点検 30 分 / 5 弱 → 徒歩点検 6.0 分/km ± 30 分 / 6 弱〜 → 時間を出さない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818888"/>
            <a:ext cx="502920" cy="502920"/>
          </a:xfrm>
          <a:prstGeom prst="roundRect">
            <a:avLst>
              <a:gd name="adj" fmla="val 6000"/>
            </a:avLst>
          </a:prstGeom>
          <a:solidFill>
            <a:srgbClr val="A4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81888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Yu Gothic U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292608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A4231C"/>
                </a:solidFill>
                <a:latin typeface="Yu Gothic UI"/>
              </a:rPr>
              <a:t>運行情報で終わらせる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773168"/>
            <a:ext cx="731520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4231C"/>
                </a:solidFill>
                <a:latin typeface="Yu Gothic UI"/>
              </a:rPr>
              <a:t>ODPT odpt:TrainInformation が「平常」なら推定を捨てる。「見合わせ」なら裏付け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532120"/>
            <a:ext cx="502920" cy="502920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53212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Yu Gothic U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486400"/>
            <a:ext cx="292608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4181D"/>
                </a:solidFill>
                <a:latin typeface="Yu Gothic UI"/>
              </a:rPr>
              <a:t>決断に翻訳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5486400"/>
            <a:ext cx="731520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81D"/>
                </a:solidFill>
                <a:latin typeface="Yu Gothic UI"/>
              </a:rPr>
              <a:t>終電・便の出発時刻から逆算して「今夜戻れる / 戻れない」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Move or Wait — 動くか、待つか  ·  公共交通オープンデータチャレンジ2026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4231C"/>
                </a:solidFill>
                <a:latin typeface="Yu Gothic UI"/>
              </a:rPr>
              <a:t>数字の根拠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14181D"/>
                </a:solidFill>
                <a:latin typeface="Yu Gothic UI"/>
              </a:rPr>
              <a:t>再開までの時間は、既往研究の推定式から出している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74519"/>
            <a:ext cx="676656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81D"/>
                </a:solidFill>
                <a:latin typeface="Yu Gothic UI"/>
              </a:rPr>
              <a:t>高浜勉・翠川三郎「地震時の鉄道運休時間の推定方法」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C6670"/>
                </a:solidFill>
                <a:latin typeface="Yu Gothic UI"/>
              </a:rPr>
              <a:t>日本地震工学会論文集 第 11 巻第 2 号 (2011) 表 1・図 1。首都圏の鉄道事業者 24 社への聞き取り (2005 年千葉県北西部地震) が元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88920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C6670"/>
                </a:solidFill>
                <a:latin typeface="Yu Gothic UI"/>
              </a:rPr>
              <a:t>基準値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2788920"/>
            <a:ext cx="23774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C6670"/>
                </a:solidFill>
                <a:latin typeface="Yu Gothic UI"/>
              </a:rPr>
              <a:t>点検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27889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C6670"/>
                </a:solidFill>
                <a:latin typeface="Yu Gothic UI"/>
              </a:rPr>
              <a:t>再開まで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108960"/>
            <a:ext cx="6766560" cy="530352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154680"/>
            <a:ext cx="155448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81D"/>
                </a:solidFill>
                <a:latin typeface="Yu Gothic UI"/>
              </a:rPr>
              <a:t>震度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154680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4181D"/>
                </a:solidFill>
                <a:latin typeface="Yu Gothic UI"/>
              </a:rPr>
              <a:t>注意運転点検・重要箇所の点検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154680"/>
            <a:ext cx="27432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4181D"/>
                </a:solidFill>
                <a:latin typeface="Yu Gothic UI"/>
              </a:rPr>
              <a:t>30 分 + 再開まで 5 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694176"/>
            <a:ext cx="6766560" cy="530352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739896"/>
            <a:ext cx="155448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A4231C"/>
                </a:solidFill>
                <a:latin typeface="Yu Gothic UI"/>
              </a:rPr>
              <a:t>震度 5 弱・5 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3739896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4181D"/>
                </a:solidFill>
                <a:latin typeface="Yu Gothic UI"/>
              </a:rPr>
              <a:t>徒歩点検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739896"/>
            <a:ext cx="27432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A4231C"/>
                </a:solidFill>
                <a:latin typeface="Yu Gothic UI"/>
              </a:rPr>
              <a:t>max(6.0 × L, 30) 分 ± 30 分 + 5 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79392"/>
            <a:ext cx="6766560" cy="530352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325112"/>
            <a:ext cx="155448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5A1016"/>
                </a:solidFill>
                <a:latin typeface="Yu Gothic UI"/>
              </a:rPr>
              <a:t>震度 6 弱以上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4325112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4181D"/>
                </a:solidFill>
                <a:latin typeface="Yu Gothic UI"/>
              </a:rPr>
              <a:t>被害が出る領域。点検だけでは終わらない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4325112"/>
            <a:ext cx="27432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5A1016"/>
                </a:solidFill>
                <a:latin typeface="Yu Gothic UI"/>
              </a:rPr>
              <a:t>時間を出さない (日単位になりうる)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956048"/>
            <a:ext cx="676656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4181D"/>
                </a:solidFill>
                <a:latin typeface="Yu Gothic UI"/>
              </a:rPr>
              <a:t>L (点検区間) は、震度 5 弱以上が当たった区間だけを 3 km 回廊で数える。営業キロが分かる 7 系統で較正 (1.7 km/セル、±40%)。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50" b="0">
                <a:solidFill>
                  <a:srgbClr val="14181D"/>
                </a:solidFill>
                <a:latin typeface="Yu Gothic UI"/>
              </a:rPr>
              <a:t>この ±40% と式の ±30 分を重ねたものが、画面の「51 分〜4 時間 26 分」の幅。精度を装わず、幅で言う。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50" b="0">
                <a:solidFill>
                  <a:srgbClr val="5C6670"/>
                </a:solidFill>
                <a:latin typeface="Yu Gothic UI"/>
              </a:rPr>
              <a:t>国土交通省「首都圏鉄道の運転再開のあり方に関する協議会」報告書 (2012) の実施基準の例 (震度 4 で 55 km/h 以下の注意運転、5 弱で 25 km/h 以下、5 強以上は点検まで運転中止) とも整合。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3840" y="1874519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0" y="2011680"/>
            <a:ext cx="3200400" cy="3931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A4231C"/>
                </a:solidFill>
                <a:latin typeface="Yu Gothic UI"/>
              </a:rPr>
              <a:t>この見積もりの限界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00" b="1">
                <a:solidFill>
                  <a:srgbClr val="14181D"/>
                </a:solidFill>
                <a:latin typeface="Yu Gothic UI"/>
              </a:rPr>
              <a:t>鉄道会社は気象庁の震度で判断していない。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14181D"/>
                </a:solidFill>
                <a:latin typeface="Yu Gothic UI"/>
              </a:rPr>
              <a:t>各社は沿線の自前地震計の加速度 (gal) や SI 値で規制をかける。ここで使う震度は最大 20 km 離れた観測点の値で、代理指標にすぎない。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00" b="1">
                <a:solidFill>
                  <a:srgbClr val="14181D"/>
                </a:solidFill>
                <a:latin typeface="Yu Gothic UI"/>
              </a:rPr>
              <a:t>だから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14181D"/>
                </a:solidFill>
                <a:latin typeface="Yu Gothic UI"/>
              </a:rPr>
              <a:t>・幅で出し、断定しない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14181D"/>
                </a:solidFill>
                <a:latin typeface="Yu Gothic UI"/>
              </a:rPr>
              <a:t>・「鉄道会社の判断ではなく推定」と毎回表示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14181D"/>
                </a:solidFill>
                <a:latin typeface="Yu Gothic UI"/>
              </a:rPr>
              <a:t>・実際に止まっているかは ODPT 運行情報で確定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14181D"/>
                </a:solidFill>
                <a:latin typeface="Yu Gothic UI"/>
              </a:rPr>
              <a:t>・6 弱以上は時間を出さない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Move or Wait — 動くか、待つか  ·  公共交通オープンデータチャレンジ2026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4231C"/>
                </a:solidFill>
                <a:latin typeface="Yu Gothic UI"/>
              </a:rPr>
              <a:t>オープンデータの使い方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14181D"/>
                </a:solidFill>
                <a:latin typeface="Yu Gothic UI"/>
              </a:rPr>
              <a:t>運行情報を「主」ではなく「推定を終わらせる手段」として使う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10698480" cy="548640"/>
          </a:xfrm>
          <a:prstGeom prst="roundRect">
            <a:avLst>
              <a:gd name="adj" fmla="val 6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393192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4231C"/>
                </a:solidFill>
                <a:latin typeface="Yu Gothic UI"/>
              </a:rPr>
              <a:t>ODPT  odpt:Railway / odpt:Station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2011680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4231C"/>
                </a:solidFill>
                <a:latin typeface="Yu Gothic UI"/>
              </a:rPr>
              <a:t>線路名称 → 運転系統の対応表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2011680"/>
            <a:ext cx="41148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N02 の山手線は 17 駅。運行情報も系統単位で来る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9464"/>
            <a:ext cx="10698480" cy="548640"/>
          </a:xfrm>
          <a:prstGeom prst="roundRect">
            <a:avLst>
              <a:gd name="adj" fmla="val 6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615184"/>
            <a:ext cx="393192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4231C"/>
                </a:solidFill>
                <a:latin typeface="Yu Gothic UI"/>
              </a:rPr>
              <a:t>ODPT  odpt:TrainInformation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615184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4231C"/>
                </a:solidFill>
                <a:latin typeface="Yu Gothic UI"/>
              </a:rPr>
              <a:t>推定を終わらせる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15184"/>
            <a:ext cx="41148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推定は上限まで「止まっている」と言い続ける。事業者が平常と言えば捨てる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172968"/>
            <a:ext cx="10698480" cy="54864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18688"/>
            <a:ext cx="393192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81D"/>
                </a:solidFill>
                <a:latin typeface="Yu Gothic UI"/>
              </a:rPr>
              <a:t>気象庁 bosai JSON / P2P地震情報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218688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81D"/>
                </a:solidFill>
                <a:latin typeface="Yu Gothic UI"/>
              </a:rPr>
              <a:t>震度分布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3218688"/>
            <a:ext cx="41148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鍵なし・CORS 開放。英語の震源名も入っている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776472"/>
            <a:ext cx="10698480" cy="54864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822192"/>
            <a:ext cx="393192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81D"/>
                </a:solidFill>
                <a:latin typeface="Yu Gothic UI"/>
              </a:rPr>
              <a:t>気象庁 震度観測点一覧表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3822192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81D"/>
                </a:solidFill>
                <a:latin typeface="Yu Gothic UI"/>
              </a:rPr>
              <a:t>観測点 → 座標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3822192"/>
            <a:ext cx="41148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199 地震 6,016 点で欠落ゼロ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379976"/>
            <a:ext cx="10698480" cy="54864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425696"/>
            <a:ext cx="393192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81D"/>
                </a:solidFill>
                <a:latin typeface="Yu Gothic UI"/>
              </a:rPr>
              <a:t>国土数値情報 N02-25 (CC BY 4.0)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4425696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81D"/>
                </a:solidFill>
                <a:latin typeface="Yu Gothic UI"/>
              </a:rPr>
              <a:t>駅・線路の形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25696"/>
            <a:ext cx="41148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同梱して配れる。空港アクセス路線が揃う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983480"/>
            <a:ext cx="10698480" cy="54864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029200"/>
            <a:ext cx="393192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81D"/>
                </a:solidFill>
                <a:latin typeface="Yu Gothic UI"/>
              </a:rPr>
              <a:t>国土地理院 避難場所・逆ジオコーダ・タイル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5029200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81D"/>
                </a:solidFill>
                <a:latin typeface="Yu Gothic UI"/>
              </a:rPr>
              <a:t>逃げる先・現在地の住所・地図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5029200"/>
            <a:ext cx="41148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住所は見せれば伝わる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586984"/>
            <a:ext cx="10698480" cy="54864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632704"/>
            <a:ext cx="393192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81D"/>
                </a:solidFill>
                <a:latin typeface="Yu Gothic UI"/>
              </a:rPr>
              <a:t>東京都 一時滞在施設 (CC BY 4.0)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5632704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81D"/>
                </a:solidFill>
                <a:latin typeface="Yu Gothic UI"/>
              </a:rPr>
              <a:t>帰宅困難者が休む場所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5632704"/>
            <a:ext cx="41148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「逃げる」と「休む」は違う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Move or Wait — 動くか、待つか  ·  公共交通オープンデータチャレンジ2026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4231C"/>
                </a:solidFill>
                <a:latin typeface="Yu Gothic UI"/>
              </a:rPr>
              <a:t>実際の地震で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7498079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4181D"/>
                </a:solidFill>
                <a:latin typeface="Yu Gothic UI"/>
              </a:rPr>
              <a:t>2026-08-23 茨城県南部 M5.9 を実データで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5C6670"/>
                </a:solidFill>
                <a:latin typeface="Yu Gothic UI"/>
              </a:rPr>
              <a:t>系統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201168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5C6670"/>
                </a:solidFill>
                <a:latin typeface="Yu Gothic UI"/>
              </a:rPr>
              <a:t>震度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01168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5C6670"/>
                </a:solidFill>
                <a:latin typeface="Yu Gothic UI"/>
              </a:rPr>
              <a:t>再開まで (推定)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377440"/>
            <a:ext cx="7040880" cy="50292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23160"/>
            <a:ext cx="265176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81D"/>
                </a:solidFill>
                <a:latin typeface="Yu Gothic UI"/>
              </a:rPr>
              <a:t>山手線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423160"/>
            <a:ext cx="109728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5 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423160"/>
            <a:ext cx="320040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A4231C"/>
                </a:solidFill>
                <a:latin typeface="Yu Gothic UI"/>
              </a:rPr>
              <a:t>1 時間 44 分 〜 5 時間 35 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944368"/>
            <a:ext cx="7040880" cy="50292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990088"/>
            <a:ext cx="265176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81D"/>
                </a:solidFill>
                <a:latin typeface="Yu Gothic UI"/>
              </a:rPr>
              <a:t>中央線快速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990088"/>
            <a:ext cx="109728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5 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990088"/>
            <a:ext cx="320040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A4231C"/>
                </a:solidFill>
                <a:latin typeface="Yu Gothic UI"/>
              </a:rPr>
              <a:t>1 時間 13 分 〜 4 時間 23 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511296"/>
            <a:ext cx="7040880" cy="50292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557016"/>
            <a:ext cx="265176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81D"/>
                </a:solidFill>
                <a:latin typeface="Yu Gothic UI"/>
              </a:rPr>
              <a:t>京浜東北線・根岸線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3557016"/>
            <a:ext cx="109728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5 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557016"/>
            <a:ext cx="320040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A4231C"/>
                </a:solidFill>
                <a:latin typeface="Yu Gothic UI"/>
              </a:rPr>
              <a:t>3 時間 15 分 〜 9 時間 9 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078224"/>
            <a:ext cx="7040880" cy="50292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123944"/>
            <a:ext cx="265176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81D"/>
                </a:solidFill>
                <a:latin typeface="Yu Gothic UI"/>
              </a:rPr>
              <a:t>京急空港線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4123944"/>
            <a:ext cx="109728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5 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123944"/>
            <a:ext cx="320040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A4231C"/>
                </a:solidFill>
                <a:latin typeface="Yu Gothic UI"/>
              </a:rPr>
              <a:t>35 分 〜 2 時間 1 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828032"/>
            <a:ext cx="704088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81D"/>
                </a:solidFill>
                <a:latin typeface="Yu Gothic UI"/>
              </a:rPr>
              <a:t>実際: JR 東日本は始発から見合わせ、発生 4 時間 15 分後の 06:15 でも再開見込みなし。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推定の幅と整合する。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00" b="0">
                <a:solidFill>
                  <a:srgbClr val="5C6670"/>
                </a:solidFill>
                <a:latin typeface="Yu Gothic UI"/>
              </a:rPr>
              <a:t>?event=&lt;id&gt; で過去の地震をいつでも再現できる。実地震ごとに幅と実再開時刻を記録し、式を校正していく。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22208" y="338328"/>
            <a:ext cx="2935007" cy="6181344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09_real_event_j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411480"/>
            <a:ext cx="2788703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Move or Wait — 動くか、待つか  ·  公共交通オープンデータチャレンジ2026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4231C"/>
                </a:solidFill>
                <a:latin typeface="Yu Gothic UI"/>
              </a:rPr>
              <a:t>地震の前に済ませる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42062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4181D"/>
                </a:solidFill>
                <a:latin typeface="Yu Gothic UI"/>
              </a:rPr>
              <a:t>宿と出国便は事前に。</a:t>
            </a:r>
          </a:p>
          <a:p>
            <a:pPr algn="l">
              <a:lnSpc>
                <a:spcPct val="105000"/>
              </a:lnSpc>
            </a:pPr>
            <a:r>
              <a:rPr sz="2600" b="1">
                <a:solidFill>
                  <a:srgbClr val="14181D"/>
                </a:solidFill>
                <a:latin typeface="Yu Gothic UI"/>
              </a:rPr>
              <a:t>リンクで配れる。4 言語。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4023360" cy="3931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A4231C"/>
                </a:solidFill>
                <a:latin typeface="Yu Gothic UI"/>
              </a:rPr>
              <a:t>設定は URL に入る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C6670"/>
                </a:solidFill>
                <a:latin typeface="Yu Gothic UI"/>
              </a:rPr>
              <a:t>?lang=en&amp;home=…&amp;flight=NRT&amp;dep=…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400" b="0">
                <a:solidFill>
                  <a:srgbClr val="14181D"/>
                </a:solidFill>
                <a:latin typeface="Yu Gothic UI"/>
              </a:rPr>
              <a:t>宿・旅行会社・空港が、客に設定つきリンクを配れる。地震のあとに設定させない。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1">
                <a:solidFill>
                  <a:srgbClr val="A4231C"/>
                </a:solidFill>
                <a:latin typeface="Yu Gothic UI"/>
              </a:rPr>
              <a:t>駅名検索は英語でも日本語でも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14181D"/>
                </a:solidFill>
                <a:latin typeface="Yu Gothic UI"/>
              </a:rPr>
              <a:t>ODPT の駅名 (英語) と N02 の全駅 (日本語)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1">
                <a:solidFill>
                  <a:srgbClr val="A4231C"/>
                </a:solidFill>
                <a:latin typeface="Yu Gothic UI"/>
              </a:rPr>
              <a:t>日本語・英語・中文・한국어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14181D"/>
                </a:solidFill>
                <a:latin typeface="Yu Gothic UI"/>
              </a:rPr>
              <a:t>震源名は気象庁の英語名。時刻は 24 時間表記に固定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1">
                <a:solidFill>
                  <a:srgbClr val="A4231C"/>
                </a:solidFill>
                <a:latin typeface="Yu Gothic UI"/>
              </a:rPr>
              <a:t>圏外でも最後の判定を表示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14181D"/>
                </a:solidFill>
                <a:latin typeface="Yu Gothic UI"/>
              </a:rPr>
              <a:t>Service Worker。地震直後の輻輳に備える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47488" y="1024128"/>
            <a:ext cx="2258958" cy="4718304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6_settings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097280"/>
            <a:ext cx="2112654" cy="4572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34462" y="1024128"/>
            <a:ext cx="2258958" cy="4718304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7_verdict_j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614" y="1097280"/>
            <a:ext cx="2112654" cy="4572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821436" y="1024128"/>
            <a:ext cx="2258958" cy="4718304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8_verdict_k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94588" y="1097280"/>
            <a:ext cx="2112654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Move or Wait — 動くか、待つか  ·  公共交通オープンデータチャレンジ2026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4231C"/>
                </a:solidFill>
                <a:latin typeface="Yu Gothic UI"/>
              </a:rPr>
              <a:t>技術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14181D"/>
                </a:solidFill>
                <a:latin typeface="Yu Gothic UI"/>
              </a:rPr>
              <a:t>依存ゼロ・ビルドなし・サーバなし。地震直後に落ちない作り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212080" cy="123444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1828800" cy="10058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A4231C"/>
                </a:solidFill>
                <a:latin typeface="Yu Gothic UI"/>
              </a:rPr>
              <a:t>162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2103120"/>
            <a:ext cx="2926080" cy="10058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81D"/>
                </a:solidFill>
                <a:latin typeface="Yu Gothic UI"/>
              </a:rPr>
              <a:t>全国 596 路線・27,343 標本点への震度割り当て (ブラウザ内)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123444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103120"/>
            <a:ext cx="1828800" cy="10058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A4231C"/>
                </a:solidFill>
                <a:latin typeface="Yu Gothic UI"/>
              </a:rPr>
              <a:t>0 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103120"/>
            <a:ext cx="2926080" cy="10058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81D"/>
                </a:solidFill>
                <a:latin typeface="Yu Gothic UI"/>
              </a:rPr>
              <a:t>観測点の座標解決の欠落。199 地震・6,016 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429000"/>
            <a:ext cx="5212080" cy="123444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20440"/>
            <a:ext cx="1828800" cy="10058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A4231C"/>
                </a:solidFill>
                <a:latin typeface="Yu Gothic UI"/>
              </a:rPr>
              <a:t>98.2%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520440"/>
            <a:ext cx="2926080" cy="10058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81D"/>
                </a:solidFill>
                <a:latin typeface="Yu Gothic UI"/>
              </a:rPr>
              <a:t>運転系統の対応表の駅被覆。190/215 系統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429000"/>
            <a:ext cx="5212080" cy="123444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520440"/>
            <a:ext cx="1828800" cy="10058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A4231C"/>
                </a:solidFill>
                <a:latin typeface="Yu Gothic UI"/>
              </a:rPr>
              <a:t>14 通り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520440"/>
            <a:ext cx="2926080" cy="10058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81D"/>
                </a:solidFill>
                <a:latin typeface="Yu Gothic UI"/>
              </a:rPr>
              <a:t>速報・震度 4・5 弱・6 強・遠方・期限切れ・深夜・4 言語… のシナリオ確認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029200"/>
            <a:ext cx="1069848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4181D"/>
                </a:solidFill>
                <a:latin typeface="Yu Gothic UI"/>
              </a:rPr>
              <a:t>GitHub Pages の静的配信。ES modules + JSDoc、地図タイル描画も自前。地震・運行情報は常に網から、同梱データはキャッシュ優先。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b="0">
                <a:solidFill>
                  <a:srgbClr val="5C6670"/>
                </a:solidFill>
                <a:latin typeface="Yu Gothic UI"/>
              </a:rPr>
              <a:t>検証スクリプト同梱: verify:shindo / verify:rail / verify:systems / verify:regulation / verify:traininfo。?scenario= と ?event= で審査中もいつでも判定が見える。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Move or Wait — 動くか、待つか  ·  公共交通オープンデータチャレンジ2026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4231C"/>
                </a:solidFill>
                <a:latin typeface="Yu Gothic UI"/>
              </a:rPr>
              <a:t>正直な限界と、間違え方の設計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14181D"/>
                </a:solidFill>
                <a:latin typeface="Yu Gothic UI"/>
              </a:rPr>
              <a:t>外すなら、安全側に外れるように作ってある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486400" cy="896112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93392"/>
            <a:ext cx="512064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81D"/>
                </a:solidFill>
                <a:latin typeface="Yu Gothic UI"/>
              </a:rPr>
              <a:t>推定は推定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既往研究の式であり、実際の再開は点検結果次第。だから幅で出し、運行情報で上書きする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44368"/>
            <a:ext cx="5486400" cy="896112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512064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81D"/>
                </a:solidFill>
                <a:latin typeface="Yu Gothic UI"/>
              </a:rPr>
              <a:t>一時滞在施設は東京都のみ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機械可読で公開している自治体が少ない。未収録の地域ではその旨を表示し、指定緊急避難場所は全国で出す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68496"/>
            <a:ext cx="5486400" cy="896112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41648"/>
            <a:ext cx="512064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81D"/>
                </a:solidFill>
                <a:latin typeface="Yu Gothic UI"/>
              </a:rPr>
              <a:t>避難場所が「いま開いているか」は取れない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L-Alert は非公開。「まず安全な建物にいるなら動くな」を先に言う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992624"/>
            <a:ext cx="5486400" cy="896112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065776"/>
            <a:ext cx="512064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81D"/>
                </a:solidFill>
                <a:latin typeface="Yu Gothic UI"/>
              </a:rPr>
              <a:t>英語の駅名検索は関東のみ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ODPT の収録範囲。他地域は日本語で検索できる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1920240"/>
            <a:ext cx="4937760" cy="896112"/>
          </a:xfrm>
          <a:prstGeom prst="roundRect">
            <a:avLst>
              <a:gd name="adj" fmla="val 6000"/>
            </a:avLst>
          </a:prstGeom>
          <a:solidFill>
            <a:srgbClr val="EA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1993392"/>
            <a:ext cx="45720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6B3A"/>
                </a:solidFill>
                <a:latin typeface="Yu Gothic UI"/>
              </a:rPr>
              <a:t>速報段階では判定しない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区域単位の震度しか無いうちは「詳細を待っています」。「平常どおり」と誤って出さない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2944368"/>
            <a:ext cx="4937760" cy="896112"/>
          </a:xfrm>
          <a:prstGeom prst="roundRect">
            <a:avLst>
              <a:gd name="adj" fmla="val 6000"/>
            </a:avLst>
          </a:prstGeom>
          <a:solidFill>
            <a:srgbClr val="EA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3017520"/>
            <a:ext cx="45720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6B3A"/>
                </a:solidFill>
                <a:latin typeface="Yu Gothic UI"/>
              </a:rPr>
              <a:t>推定の期限切れを言う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上限を過ぎたら「再開しているかもしれません」。古い判定を出し続けない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3968496"/>
            <a:ext cx="4937760" cy="896112"/>
          </a:xfrm>
          <a:prstGeom prst="roundRect">
            <a:avLst>
              <a:gd name="adj" fmla="val 6000"/>
            </a:avLst>
          </a:prstGeom>
          <a:solidFill>
            <a:srgbClr val="EA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4041648"/>
            <a:ext cx="45720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6B3A"/>
                </a:solidFill>
                <a:latin typeface="Yu Gothic UI"/>
              </a:rPr>
              <a:t>「平常」なら推定を捨てる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事業者が平常と言えば推定は消える。不要な宿を取らせる方向の失敗を塞ぐ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4992624"/>
            <a:ext cx="4937760" cy="896112"/>
          </a:xfrm>
          <a:prstGeom prst="roundRect">
            <a:avLst>
              <a:gd name="adj" fmla="val 6000"/>
            </a:avLst>
          </a:prstGeom>
          <a:solidFill>
            <a:srgbClr val="EA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5065776"/>
            <a:ext cx="45720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6B3A"/>
                </a:solidFill>
                <a:latin typeface="Yu Gothic UI"/>
              </a:rPr>
              <a:t>文面は現在形の事実だけ読む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「運休の可能性があります」「遅延はありません」を止まっている・遅れていると読まない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Move or Wait — 動くか、待つか  ·  公共交通オープンデータチャレンジ2026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4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515600" cy="21945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Yu Gothic UI"/>
              </a:rPr>
              <a:t>「あとどれくらい」を出しているのは、ここだけ。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2600" b="0">
                <a:solidFill>
                  <a:srgbClr val="FFFFFF"/>
                </a:solidFill>
                <a:latin typeface="Yu Gothic UI"/>
              </a:rPr>
              <a:t>待つか、今夜の寝場所を確保するかを、いま決められる。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1051560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Yu Gothic UI"/>
              </a:rPr>
              <a:t>数字の根拠は高浜・翠川 (2011) の推定式。公共交通オープンデータで線路名称を運転系統に組み替え、運行情報で推定を終わらせる。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500" b="0">
                <a:solidFill>
                  <a:srgbClr val="FFFFFF"/>
                </a:solidFill>
                <a:latin typeface="Yu Gothic UI"/>
              </a:rPr>
              <a:t>次は: 一時滞在施設を大阪・京都・福岡へ / 津波の避難場所 / ODPT 航空データで出国便 / 実地震で式を校正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Yu Gothic UI"/>
              </a:rPr>
              <a:t>Move or Wait — 動くか、待つか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FFFFFF"/>
                </a:solidFill>
                <a:latin typeface="Yu Gothic UI"/>
              </a:rPr>
              <a:t>https://tyra0119.github.io/pj_DisasterPrevention/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